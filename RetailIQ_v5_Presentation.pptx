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28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A4FC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5A4FCF">
              <a:alpha val="12000"/>
            </a:srgbClr>
          </a:solidFill>
          <a:ln w="12700">
            <a:solidFill>
              <a:srgbClr val="5A4FC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2FBF9F">
              <a:alpha val="12000"/>
            </a:srgbClr>
          </a:solidFill>
          <a:ln w="12700">
            <a:solidFill>
              <a:srgbClr val="2FBF9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109929" y="822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05643" y="1433370"/>
            <a:ext cx="34085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Performance Analysis 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Istanbul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Dataset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83648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A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Has a Story.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1480" y="2415861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Tell It.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11480" y="2987850"/>
            <a:ext cx="57821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090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executive dashboard built on Istanbul Retail Group transaction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090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Transforming raw retail records into board-ready intelligence.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0" y="1371600"/>
            <a:ext cx="118872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389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9090B0"/>
                </a:solidFill>
              </a:rPr>
              <a:t>TRANSACTIONS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909560" y="1371600"/>
            <a:ext cx="118872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389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09560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09560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9090B0"/>
                </a:solidFill>
              </a:rPr>
              <a:t>DATA MODULES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69480" y="2468880"/>
            <a:ext cx="118872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9480" y="3081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9090B0"/>
                </a:solidFill>
              </a:rPr>
              <a:t>MALL LOCATIONS</a:t>
            </a:r>
            <a:endParaRPr lang="en-US" sz="750" dirty="0"/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312258" y="3657600"/>
            <a:ext cx="547297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Multi-category retail transactions (2021–2023)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Identify performance drivers, risks, and growth opportunities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263D"/>
          </a:solidFill>
          <a:ln w="12700">
            <a:solidFill>
              <a:srgbClr val="262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EA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52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RetailIQ Delivers</a:t>
            </a:r>
          </a:p>
        </p:txBody>
      </p:sp>
      <p:sp>
        <p:nvSpPr>
          <p:cNvPr id="6" name="Text 4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RetailIQ v5 transforms raw transaction data into a living executive dashboard </a:t>
            </a:r>
            <a:r>
              <a:rPr lang="en-US" sz="13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3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AI insights, predictive forecasting, cohort retention analysis, and natural language queries.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20624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91640"/>
            <a:ext cx="54864" cy="91440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1783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0391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090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revenue, AOV, revenue-per-customer, and MoM growth with 3-month exponential smoothing forecast.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420624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91640"/>
            <a:ext cx="54864" cy="91440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13248" y="1783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&amp; Risk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13248" y="20391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090B0"/>
                </a:solidFill>
              </a:rPr>
              <a:t>Identifies the top customer cohort driving 80% of revenue and scores concentration + stability risk.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420624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43200"/>
            <a:ext cx="54864" cy="91440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24128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Heatmap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0906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090B0"/>
                </a:solidFill>
              </a:rPr>
              <a:t>First-purchase cohort matrix tracking return rates by month offset — gold-standard churn analysis.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420624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743200"/>
            <a:ext cx="54864" cy="91440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13248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Affinity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30906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090B0"/>
                </a:solidFill>
              </a:rPr>
              <a:t>Category co-purchase network graph. Reveals which product pairings drive cross-sell opportunities.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420624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94760"/>
            <a:ext cx="54864" cy="91440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24128" y="3886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Risk Index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41422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090B0"/>
                </a:solidFill>
              </a:rPr>
              <a:t>Monthly deviation analysis with CV scoring to expose revenue volatility and seasonal exposure.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4206240" cy="91440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794760"/>
            <a:ext cx="54864" cy="91440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13248" y="3886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13248" y="41422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090B0"/>
                </a:solidFill>
              </a:rPr>
              <a:t>"Ask the Data" bar — filter by gender, category, and mall using plain English commands instantly.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263D"/>
          </a:solidFill>
          <a:ln w="12700">
            <a:solidFill>
              <a:srgbClr val="262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PERFORMANCE SNAPSHOT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0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Metrics from Istanbul Retail Group Demo Dataset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13258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69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453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060A0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₺251K+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Gross across all malls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743200" cy="13258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960120"/>
            <a:ext cx="2743200" cy="54864"/>
          </a:xfrm>
          <a:prstGeom prst="rect">
            <a:avLst/>
          </a:prstGeom>
          <a:solidFill>
            <a:srgbClr val="2FBF9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069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10128" y="1453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060A0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10128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10128" y="2057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Unique invoices logged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25896" y="960120"/>
            <a:ext cx="2743200" cy="13258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25896" y="960120"/>
            <a:ext cx="2743200" cy="54864"/>
          </a:xfrm>
          <a:prstGeom prst="rect">
            <a:avLst/>
          </a:prstGeom>
          <a:solidFill>
            <a:srgbClr val="7B72E9"/>
          </a:solidFill>
          <a:ln w="12700">
            <a:solidFill>
              <a:srgbClr val="7B72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069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63056" y="1453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060A0"/>
                </a:solidFill>
              </a:rPr>
              <a:t>AVG ORDER VALUE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63056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7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₺875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63056" y="2057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Per transaction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423160"/>
            <a:ext cx="2743200" cy="8686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23160"/>
            <a:ext cx="2743200" cy="36576"/>
          </a:xfrm>
          <a:prstGeom prst="rect">
            <a:avLst/>
          </a:prstGeom>
          <a:solidFill>
            <a:srgbClr val="9090B0"/>
          </a:solidFill>
          <a:ln w="12700">
            <a:solidFill>
              <a:srgbClr val="9090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496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060A0"/>
                </a:solidFill>
              </a:rPr>
              <a:t>👥  UNIQUE CUSTOMERS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" y="3063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Distinct customer IDs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72968" y="2423160"/>
            <a:ext cx="2743200" cy="8686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2968" y="2423160"/>
            <a:ext cx="2743200" cy="36576"/>
          </a:xfrm>
          <a:prstGeom prst="rect">
            <a:avLst/>
          </a:prstGeom>
          <a:solidFill>
            <a:srgbClr val="2FBF9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496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060A0"/>
                </a:solidFill>
              </a:rPr>
              <a:t>💎  REVENUE / CUSTOMER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₺2.6K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310128" y="3063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Lifetime value proxy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25896" y="2423160"/>
            <a:ext cx="2743200" cy="8686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25896" y="2423160"/>
            <a:ext cx="27432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496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060A0"/>
                </a:solidFill>
              </a:rPr>
              <a:t>🏆  TOP CATEGORY 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63056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163056" y="3063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Clothing dominates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383280"/>
            <a:ext cx="8503920" cy="219456"/>
          </a:xfrm>
          <a:prstGeom prst="rect">
            <a:avLst/>
          </a:prstGeom>
          <a:solidFill>
            <a:srgbClr val="2E2E48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F5A623"/>
                </a:solidFill>
              </a:rPr>
              <a:t>RISK INTELLIGENCE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648456"/>
            <a:ext cx="2029968" cy="105156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37216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6060A0"/>
                </a:solidFill>
              </a:rPr>
              <a:t>Pareto Ratio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29768" y="39227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cust.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29768" y="43159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6B6B"/>
                </a:solidFill>
              </a:rPr>
              <a:t>80% revenue · SKEWED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50592" y="3648456"/>
            <a:ext cx="2029968" cy="105156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37216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6060A0"/>
                </a:solidFill>
              </a:rPr>
              <a:t>Stability Score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60320" y="39227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2560320" y="43159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A623"/>
                </a:solidFill>
              </a:rPr>
              <a:t>CV analysis · SEASONAL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81144" y="3648456"/>
            <a:ext cx="2029968" cy="105156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0872" y="37216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6060A0"/>
                </a:solidFill>
              </a:rPr>
              <a:t>Repeat Rate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90872" y="39227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15%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690872" y="43159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6B6B"/>
                </a:solidFill>
              </a:rPr>
              <a:t>2+ visits · CRITICAL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11696" y="3648456"/>
            <a:ext cx="2029968" cy="105156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21424" y="37216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6060A0"/>
                </a:solidFill>
              </a:rPr>
              <a:t>Revenue at Risk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21424" y="39227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~60%+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6821424" y="43159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A623"/>
                </a:solidFill>
              </a:rPr>
              <a:t>Category dep · EXPOSED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263D"/>
          </a:solidFill>
          <a:ln w="12700">
            <a:solidFill>
              <a:srgbClr val="262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FBF9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&amp; MALL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Concentration · Location Performance · Affinity Patterns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029200" cy="26974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F0"/>
                </a:solidFill>
              </a:rPr>
              <a:t>Category Revenue Breakdown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</a:rPr>
              <a:t>Share of total revenue by product category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Clothing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19072" y="1609344"/>
            <a:ext cx="3474720" cy="201168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1609344"/>
            <a:ext cx="3300984" cy="2011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C94C"/>
                </a:solidFill>
              </a:rPr>
              <a:t>38%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9110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Shoes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19072" y="1947672"/>
            <a:ext cx="3474720" cy="201168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19072" y="1947672"/>
            <a:ext cx="2519172" cy="201168"/>
          </a:xfrm>
          <a:prstGeom prst="rect">
            <a:avLst/>
          </a:prstGeom>
          <a:solidFill>
            <a:srgbClr val="7B72E9"/>
          </a:solidFill>
          <a:ln w="12700">
            <a:solidFill>
              <a:srgbClr val="7B72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911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72E9"/>
                </a:solidFill>
              </a:rPr>
              <a:t>29%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2494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Technology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19072" y="2286000"/>
            <a:ext cx="3474720" cy="201168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19072" y="2286000"/>
            <a:ext cx="1650492" cy="201168"/>
          </a:xfrm>
          <a:prstGeom prst="rect">
            <a:avLst/>
          </a:prstGeom>
          <a:solidFill>
            <a:srgbClr val="2FBF9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BF9F"/>
                </a:solidFill>
              </a:rPr>
              <a:t>19%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5877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Cosmetics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19072" y="2624328"/>
            <a:ext cx="3474720" cy="201168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19072" y="2624328"/>
            <a:ext cx="608076" cy="2011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587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6B6B"/>
                </a:solidFill>
              </a:rPr>
              <a:t>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926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Food &amp; Bev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19072" y="2962656"/>
            <a:ext cx="3474720" cy="201168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19072" y="2962656"/>
            <a:ext cx="260604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</a:rPr>
              <a:t>3%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264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Other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19072" y="3300984"/>
            <a:ext cx="3474720" cy="201168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19072" y="3300984"/>
            <a:ext cx="347472" cy="201168"/>
          </a:xfrm>
          <a:prstGeom prst="rect">
            <a:avLst/>
          </a:prstGeom>
          <a:solidFill>
            <a:srgbClr val="6060A0"/>
          </a:solidFill>
          <a:ln w="12700">
            <a:solidFill>
              <a:srgbClr val="6060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060A0"/>
                </a:solidFill>
              </a:rPr>
              <a:t>4%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960120"/>
            <a:ext cx="3200400" cy="26974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F0"/>
                </a:solidFill>
              </a:rPr>
              <a:t>Top Mall Performers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77840" y="1316736"/>
            <a:ext cx="3200400" cy="237744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1335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060A0"/>
                </a:solidFill>
              </a:rPr>
              <a:t>MALL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0" y="13350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060A0"/>
                </a:solidFill>
              </a:rPr>
              <a:t>REVENUE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138160" y="13350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060A0"/>
                </a:solidFill>
              </a:rPr>
              <a:t>EFF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77840" y="1563624"/>
            <a:ext cx="3200400" cy="329184"/>
          </a:xfrm>
          <a:prstGeom prst="rect">
            <a:avLst/>
          </a:prstGeom>
          <a:solidFill>
            <a:srgbClr val="2E2E48">
              <a:alpha val="40000"/>
            </a:srgbClr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15819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AF0"/>
                </a:solidFill>
              </a:rPr>
              <a:t>Mall of Istanbul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1581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₺52K+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38160" y="1618488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2FBF9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138160" y="16002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BF9F"/>
                </a:solidFill>
              </a:rPr>
              <a:t>High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69280" y="192938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AF0"/>
                </a:solidFill>
              </a:rPr>
              <a:t>Kanyon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1929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₺48K+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138160" y="196596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2FBF9F">
              <a:alpha val="2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138160" y="1947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BF9F"/>
                </a:solidFill>
              </a:rPr>
              <a:t>High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77840" y="2258568"/>
            <a:ext cx="3200400" cy="329184"/>
          </a:xfrm>
          <a:prstGeom prst="rect">
            <a:avLst/>
          </a:prstGeom>
          <a:solidFill>
            <a:srgbClr val="2E2E48">
              <a:alpha val="40000"/>
            </a:srgbClr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227685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AF0"/>
                </a:solidFill>
              </a:rPr>
              <a:t>Emaar Square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22768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₺32K+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38160" y="231343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5A623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138160" y="2295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Med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669280" y="26243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AF0"/>
                </a:solidFill>
              </a:rPr>
              <a:t>Zorlu Center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0" y="26243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₺28K+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138160" y="2660904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5A623">
              <a:alpha val="2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138160" y="26426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Med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577840" y="2953512"/>
            <a:ext cx="3200400" cy="329184"/>
          </a:xfrm>
          <a:prstGeom prst="rect">
            <a:avLst/>
          </a:prstGeom>
          <a:solidFill>
            <a:srgbClr val="2E2E48">
              <a:alpha val="40000"/>
            </a:srgbClr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29718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AF0"/>
                </a:solidFill>
              </a:rPr>
              <a:t>Istinye Park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315200" y="2971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₺24K+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38160" y="3008376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5A623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138160" y="2990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Med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669280" y="33192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AF0"/>
                </a:solidFill>
              </a:rPr>
              <a:t>Forum Istanbul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315200" y="3319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₺22K+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138160" y="3355848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F6B6B">
              <a:alpha val="25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138160" y="3337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6B"/>
                </a:solidFill>
              </a:rPr>
              <a:t>Low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3749040"/>
            <a:ext cx="8412480" cy="841248"/>
          </a:xfrm>
          <a:prstGeom prst="rect">
            <a:avLst/>
          </a:prstGeom>
          <a:solidFill>
            <a:srgbClr val="2A24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3794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2C94C"/>
                </a:solidFill>
              </a:rPr>
              <a:t>⚡ SIGNATURE INSIGHT — Revenue Concentration Risk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48640" y="40416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90B0"/>
                </a:solidFill>
              </a:rPr>
              <a:t>Top 3 categories (Clothing 38% + Shoes 29% + Technology 19%) own 86% of all revenue. HHI analysis confirms dangerously high concentration — a single category disruption could eliminate majority of income. Immediate portfolio diversification recommended.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263D"/>
          </a:solidFill>
          <a:ln w="12700">
            <a:solidFill>
              <a:srgbClr val="262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ANALYTICS &amp; RETENTION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· Repeat Behavior · Cohort Retention · Pareto Distribution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51760" cy="13258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2651760" cy="5486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051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94C"/>
                </a:solidFill>
              </a:rPr>
              <a:t>High-Value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53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0"/>
                </a:solidFill>
              </a:rPr>
              <a:t>Top spenders driving majority of 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13258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2FBF9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1051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9F"/>
                </a:solidFill>
              </a:rPr>
              <a:t>Mid-Value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1353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3756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0"/>
                </a:solidFill>
              </a:rPr>
              <a:t>Stable core shoppers with repeat potential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651760" cy="13258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960120"/>
            <a:ext cx="26517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75120" y="1051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Low-Value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1353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7220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0"/>
                </a:solidFill>
              </a:rPr>
              <a:t>Infrequent buyers — nurture &amp; upsell targets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4114800" cy="1938528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F0"/>
                </a:solidFill>
              </a:rPr>
              <a:t>Retention Funnel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2724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Purchase frequency breakdown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1 Purchase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83080" y="3008376"/>
            <a:ext cx="2194560" cy="182880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3008376"/>
            <a:ext cx="2194560" cy="182880"/>
          </a:xfrm>
          <a:prstGeom prst="rect">
            <a:avLst/>
          </a:prstGeom>
          <a:solidFill>
            <a:srgbClr val="7B72E9"/>
          </a:solidFill>
          <a:ln w="12700">
            <a:solidFill>
              <a:srgbClr val="7B72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2971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72E9"/>
                </a:solidFill>
              </a:rPr>
              <a:t>~72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300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2 Purchases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83080" y="3337560"/>
            <a:ext cx="2194560" cy="182880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3337560"/>
            <a:ext cx="1207008" cy="182880"/>
          </a:xfrm>
          <a:prstGeom prst="rect">
            <a:avLst/>
          </a:prstGeom>
          <a:solidFill>
            <a:srgbClr val="2FBF9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3300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BF9F"/>
                </a:solidFill>
              </a:rPr>
              <a:t>~18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3 Purchases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83080" y="3666744"/>
            <a:ext cx="2194560" cy="182880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3666744"/>
            <a:ext cx="658368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630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</a:rPr>
              <a:t>~7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3959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</a:rPr>
              <a:t>4+ Purchases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783080" y="3995928"/>
            <a:ext cx="2194560" cy="182880"/>
          </a:xfrm>
          <a:prstGeom prst="rect">
            <a:avLst/>
          </a:prstGeom>
          <a:solidFill>
            <a:srgbClr val="2E2E48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3995928"/>
            <a:ext cx="329184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959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6B6B"/>
                </a:solidFill>
              </a:rPr>
              <a:t>~3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069080"/>
            <a:ext cx="4114800" cy="594360"/>
          </a:xfrm>
          <a:prstGeom prst="rect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6B6B"/>
                </a:solidFill>
              </a:rPr>
              <a:t>⚠  Critical: Over 72% of customers purchased only once. Loyalty programs and re-engagement campaigns are urgently needed to improve repeat purchase rate.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2423160"/>
            <a:ext cx="4114800" cy="224028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487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F0"/>
                </a:solidFill>
              </a:rPr>
              <a:t>Cohort Retention Heatmap Findings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46320" y="2724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B0"/>
                </a:solidFill>
              </a:rPr>
              <a:t>First-purchase cohort return rate by month offset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3017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</a:rPr>
              <a:t>Month +0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3035808"/>
            <a:ext cx="2377440" cy="201168"/>
          </a:xfrm>
          <a:prstGeom prst="rect">
            <a:avLst/>
          </a:prstGeom>
          <a:solidFill>
            <a:srgbClr val="2FBF9F">
              <a:alpha val="10000"/>
            </a:srgbClr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3017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BF9F"/>
                </a:solidFill>
              </a:rPr>
              <a:t>100%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46320" y="3282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</a:rPr>
              <a:t>Month +1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89320" y="3300984"/>
            <a:ext cx="2377440" cy="201168"/>
          </a:xfrm>
          <a:prstGeom prst="rect">
            <a:avLst/>
          </a:prstGeom>
          <a:solidFill>
            <a:srgbClr val="7B72E9">
              <a:alpha val="26000"/>
            </a:srgbClr>
          </a:solidFill>
          <a:ln w="12700">
            <a:solidFill>
              <a:srgbClr val="7B72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0" y="3282696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B72E9"/>
                </a:solidFill>
              </a:rPr>
              <a:t>~22%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46320" y="3547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</a:rPr>
              <a:t>Month +2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989320" y="3566160"/>
            <a:ext cx="2377440" cy="201168"/>
          </a:xfrm>
          <a:prstGeom prst="rect">
            <a:avLst/>
          </a:prstGeom>
          <a:solidFill>
            <a:srgbClr val="F5A623">
              <a:alpha val="4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0" y="354787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A623"/>
                </a:solidFill>
              </a:rPr>
              <a:t>~14%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46320" y="38130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</a:rPr>
              <a:t>Month +3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89320" y="3831336"/>
            <a:ext cx="2377440" cy="201168"/>
          </a:xfrm>
          <a:prstGeom prst="rect">
            <a:avLst/>
          </a:prstGeom>
          <a:solidFill>
            <a:srgbClr val="FF6B6B">
              <a:alpha val="5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81304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6B6B"/>
                </a:solidFill>
              </a:rPr>
              <a:t>~9%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46320" y="40782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</a:rPr>
              <a:t>Month +4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989320" y="4096512"/>
            <a:ext cx="2377440" cy="201168"/>
          </a:xfrm>
          <a:prstGeom prst="rect">
            <a:avLst/>
          </a:prstGeom>
          <a:solidFill>
            <a:srgbClr val="FF6B6B">
              <a:alpha val="74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12480" y="407822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6B6B"/>
                </a:solidFill>
              </a:rPr>
              <a:t>~6%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846320" y="4343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</a:rPr>
              <a:t>Month +5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989320" y="4361688"/>
            <a:ext cx="2377440" cy="201168"/>
          </a:xfrm>
          <a:prstGeom prst="rect">
            <a:avLst/>
          </a:prstGeom>
          <a:solidFill>
            <a:srgbClr val="FF6B6B">
              <a:alpha val="9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12480" y="434340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6B6B"/>
                </a:solidFill>
              </a:rPr>
              <a:t>~3%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663440" y="4617720"/>
            <a:ext cx="4114800" cy="54864"/>
          </a:xfrm>
          <a:prstGeom prst="rect">
            <a:avLst/>
          </a:prstGeom>
          <a:solidFill>
            <a:srgbClr val="2FBF9F">
              <a:alpha val="40000"/>
            </a:srgbClr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90B0"/>
                </a:solidFill>
              </a:rPr>
              <a:t>Steep drop-off after Month +1 signals onboarding gap and low brand stickiness.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5A4FCF">
              <a:alpha val="8000"/>
            </a:srgbClr>
          </a:solidFill>
          <a:ln w="12700">
            <a:solidFill>
              <a:srgbClr val="5A4FC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2FBF9F">
              <a:alpha val="7000"/>
            </a:srgbClr>
          </a:solidFill>
          <a:ln w="12700">
            <a:solidFill>
              <a:srgbClr val="2FBF9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74320"/>
            <a:ext cx="2743200" cy="320040"/>
          </a:xfrm>
          <a:prstGeom prst="roundRect">
            <a:avLst>
              <a:gd name="adj" fmla="val 40000"/>
            </a:avLst>
          </a:prstGeom>
          <a:solidFill>
            <a:srgbClr val="5A4FC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28346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7B72E9"/>
                </a:solidFill>
              </a:rPr>
              <a:t>STRATEGIC RECOMMENDATIONS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A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Board-Ready Actions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</a:rPr>
              <a:t>Data-backed priorities derived from RetailIQ intelligence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206240" cy="118872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773936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FF6B6B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1755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1755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0848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090B0"/>
                </a:solidFill>
              </a:rPr>
              <a:t>72% single-purchase rate demands immediate retention investment. A points-based loyalty scheme could double repeat visit frequency within 2 quarters.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664208"/>
            <a:ext cx="4206240" cy="118872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664208"/>
            <a:ext cx="64008" cy="1188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1773936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F2C94C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1755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C94C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67528" y="1755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Category Mix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20848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090B0"/>
                </a:solidFill>
              </a:rPr>
              <a:t>Top-3 categories own 86% of revenue (HHI risk). Activate Toys, Books, and Souvenir promotions to reduce concentration and hedge seasonal swings.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035808"/>
            <a:ext cx="4206240" cy="118872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35808"/>
            <a:ext cx="64008" cy="1188720"/>
          </a:xfrm>
          <a:prstGeom prst="rect">
            <a:avLst/>
          </a:prstGeom>
          <a:solidFill>
            <a:srgbClr val="2FBF9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3145536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FBF9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31272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BF9F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3127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Underperforming Malls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" y="34564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090B0"/>
                </a:solidFill>
              </a:rPr>
              <a:t>Viaport Outlet and Metropol AVM show below-network efficiency. Targeted localised campaigns and footfall-driving events recommended.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035808"/>
            <a:ext cx="4206240" cy="1188720"/>
          </a:xfrm>
          <a:prstGeom prst="rect">
            <a:avLst/>
          </a:prstGeom>
          <a:solidFill>
            <a:srgbClr val="26263D"/>
          </a:solidFill>
          <a:ln w="12700">
            <a:solidFill>
              <a:srgbClr val="3636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035808"/>
            <a:ext cx="64008" cy="1188720"/>
          </a:xfrm>
          <a:prstGeom prst="rect">
            <a:avLst/>
          </a:prstGeom>
          <a:solidFill>
            <a:srgbClr val="7B72E9"/>
          </a:solidFill>
          <a:ln w="12700">
            <a:solidFill>
              <a:srgbClr val="7B72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3145536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7B72E9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31272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72E9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67528" y="3127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Revenue Planning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34564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090B0"/>
                </a:solidFill>
              </a:rPr>
              <a:t>Seasonal Risk Index confirms high CV volatility. Build inventory and staffing buffers for peak months; launch promotions during troughs to flatten curve.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572000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52728" y="45720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783080" y="46268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737</Words>
  <Application>Microsoft Office PowerPoint</Application>
  <PresentationFormat>On-screen Show (16:9)</PresentationFormat>
  <Paragraphs>177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RetailIQ Executive Intelligence Platform</dc:title>
  <dc:subject>PptxGenJS Presentation</dc:subject>
  <dc:creator>PptxGenJS</dc:creator>
  <cp:lastModifiedBy>TharunLux</cp:lastModifiedBy>
  <cp:revision>4</cp:revision>
  <dcterms:created xsi:type="dcterms:W3CDTF">2026-05-02T06:07:26Z</dcterms:created>
  <dcterms:modified xsi:type="dcterms:W3CDTF">2026-05-02T06:39:13Z</dcterms:modified>
</cp:coreProperties>
</file>